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86" r:id="rId4"/>
    <p:sldId id="285" r:id="rId5"/>
    <p:sldId id="287" r:id="rId6"/>
    <p:sldId id="290" r:id="rId7"/>
    <p:sldId id="291" r:id="rId8"/>
    <p:sldId id="288" r:id="rId9"/>
    <p:sldId id="292" r:id="rId10"/>
    <p:sldId id="258" r:id="rId11"/>
    <p:sldId id="295" r:id="rId12"/>
    <p:sldId id="294" r:id="rId13"/>
    <p:sldId id="296" r:id="rId14"/>
    <p:sldId id="261" r:id="rId15"/>
    <p:sldId id="297" r:id="rId16"/>
    <p:sldId id="298" r:id="rId17"/>
    <p:sldId id="262" r:id="rId18"/>
    <p:sldId id="299" r:id="rId19"/>
    <p:sldId id="263" r:id="rId20"/>
    <p:sldId id="264" r:id="rId21"/>
    <p:sldId id="26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0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1284" y="6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28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F5D4219-C69E-432E-5379-E4B9A8D3F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D9E766-4328-A7D2-EF9C-16562F27BE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4A165-FA9E-4730-A58F-53A3FC0A112F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DF0D8E-BD68-7E4D-CDE6-0ED1F167EE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78EB558-988F-80E5-43F2-110F3EFBB4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BE063-E101-4E46-819F-FFFF50152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778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04475-A9C0-46F2-9D24-DD8B42CF29EC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73297-70B4-4F36-AB73-039ED2CCC3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158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73297-70B4-4F36-AB73-039ED2CCC3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393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73297-70B4-4F36-AB73-039ED2CCC36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155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73297-70B4-4F36-AB73-039ED2CCC36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225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7480-0880-A036-F2A9-70526D4E3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A42077-58D9-E939-CCD6-DA1D95807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1F52F7-C1D7-1008-C2EF-C39EBE07C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2356C5-385A-622F-B929-87214933A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73297-70B4-4F36-AB73-039ED2CCC36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298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EC490-0B87-1088-F70E-C0B6CA0E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284F26-8234-DE50-038A-FB0F71DA9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1AEF14-443F-7395-E058-7D592F558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668CBD-C9A3-C36E-103D-8F815EFE4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273297-70B4-4F36-AB73-039ED2CCC36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2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13233D-6373-5DDE-56C9-FC7D61261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A9A474-DDA8-95BD-4FE5-E8B80C07C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00B6B6-5DD6-2E26-45AA-4EE01C73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A6F729-507F-047B-85C5-8A97F9CD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67854C-652B-38AA-0288-A67BC060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668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00800-204E-5F0C-AD31-3F5B75E0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A8059F-B48A-965B-20FB-34DC5E52A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B3A36D-C87F-C2C2-4AE4-43443FA01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EA36B9-6D63-3A16-D2FB-8B213649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6099BF-5A0A-2A17-527B-93AEED2CA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310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1A3D5-69E7-6D81-E82A-3BB63D07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3ABFE7-F15C-DBBF-C877-FE11A1DBD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7084D6-21D7-B0F5-6175-9BF01F6F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0DAEF3-C65C-5A65-7972-5B64DFE66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3653A5-EB0A-8434-83C7-D18E367A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86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F3006-55D9-78F1-FDA1-98D87848B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93766-D609-1C1F-6E98-B1288AC90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F07AC-5EBE-39F7-C0BE-558D8CE1B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A6E60D-74E6-FCB2-C8B3-18F48D9F8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8E17A5-971D-FE34-D9C8-F3A9E377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74FE95-85BA-60BB-EA51-ED42EE9D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85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D52F5-76BB-817F-5AB2-E1F49298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25231-697D-5F99-18E7-43F135468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084D46-050B-97A8-9D0B-0A4588314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F45F8B-0EA3-453E-2267-4F9AEBEED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CBF553-1473-700D-12A4-F1D8AB46F3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8278E29-07E4-D409-67F8-69BB226BB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E59E8A-82FD-184E-F088-BFC8A0C7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64598C-55BB-89EE-4785-CB72D948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24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9FB29-666F-D5DC-3056-3D70226A2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0A6AB2-FD81-6EAB-855F-DA260D545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EFB3A8-9A0B-5D73-ADF4-4C069C7D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553CD9-712E-5D53-D6E4-B2211252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498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7EB1802F-6ADA-7B3C-5C6C-F2A27F651465}"/>
              </a:ext>
            </a:extLst>
          </p:cNvPr>
          <p:cNvSpPr/>
          <p:nvPr userDrawn="1"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C2AD2A-8985-5C1C-092F-FA94C1D6A7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1972" y="1"/>
            <a:ext cx="380027" cy="320040"/>
          </a:xfrm>
          <a:prstGeom prst="rect">
            <a:avLst/>
          </a:prstGeom>
        </p:spPr>
      </p:pic>
      <p:sp>
        <p:nvSpPr>
          <p:cNvPr id="18" name="바닥글 개체 틀 17">
            <a:extLst>
              <a:ext uri="{FF2B5EF4-FFF2-40B4-BE49-F238E27FC236}">
                <a16:creationId xmlns:a16="http://schemas.microsoft.com/office/drawing/2014/main" id="{D2D45D5E-0A90-40A8-5907-ECEDA72D6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492875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3708D531-2C75-9D01-5D4E-844E6D5C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5"/>
            <a:ext cx="2743200" cy="365125"/>
          </a:xfrm>
        </p:spPr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848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15A129-CD61-88BC-55FB-7A7AC8411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516607-9263-0AC8-1763-6AEED26D6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7C90C7-8F83-D15E-EF95-A7E46FE51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2ADDFD-A29F-0E22-C90A-A71FBE41C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A265C-702E-56E0-79DB-ABA6D57D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83AE5D-1030-6255-C3EB-81CFDAE8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317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539B0-2E75-34BF-B7FD-9B7149F38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B46418-93AF-5D88-85DB-BBD6728AB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3D6D1D-10B6-A982-708D-C3C0700AA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40D395-DD14-7E43-EA27-8D294C3E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12C491-46F2-DBA4-AEE1-3A3D945D7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28EEF9-AA44-D4FE-09BB-6916AAA1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342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459274-F4D7-6FEC-BBF4-52EC85550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A30675-E880-0018-11AA-E960B9F4A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713E84-65A2-56FC-AD34-7065FF2E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8EEE0-DBEB-1C4A-BFD2-D54E582A3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91E3D2-C0C3-D611-9CB2-1B1D53CFE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721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CBC66E-6F90-7BE6-6CD9-1724E8F82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177DB7-EED5-22D1-49FB-70A2EE3B9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9B28E5-BA41-1DAE-8D0D-32D0D433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8EA601-F153-2DFD-D35F-F3A1798D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FA03DA-0002-A91F-CF74-1D48A273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89600B-BB7F-E756-EE22-6435A5E81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4BE919-E8D4-6268-33BC-2B31748F5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C90C0C-2176-6211-5434-8FE3EB939F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5A3924-6D22-48E4-C068-418834889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ko-KR"/>
              <a:t>SOGANG UNIVERSITY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96710E-8141-35E7-1490-FFFE99E2D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04369-18DE-4A6D-B84B-3A0EF9CDCE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72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doi.org/10.1093/llc/fqaf018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05" y="0"/>
            <a:ext cx="12192000" cy="6858001"/>
          </a:xfrm>
          <a:prstGeom prst="rect">
            <a:avLst/>
          </a:prstGeom>
          <a:solidFill>
            <a:srgbClr val="7A00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6804299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rPr lang="en-US" sz="3800" b="1" dirty="0"/>
              <a:t>CSE5321, Final Presentation </a:t>
            </a:r>
            <a:endParaRPr sz="3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C98A24-6865-DBE4-56C3-D753ADD80E9A}"/>
              </a:ext>
            </a:extLst>
          </p:cNvPr>
          <p:cNvSpPr txBox="1"/>
          <p:nvPr/>
        </p:nvSpPr>
        <p:spPr>
          <a:xfrm>
            <a:off x="731520" y="5569873"/>
            <a:ext cx="197041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rPr lang="ko-KR" altLang="en-US" sz="1400" dirty="0" err="1">
                <a:latin typeface="+mj-lt"/>
              </a:rPr>
              <a:t>박지홍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이지우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조형원</a:t>
            </a:r>
            <a:endParaRPr sz="1400" dirty="0">
              <a:latin typeface="+mj-lt"/>
            </a:endParaRPr>
          </a:p>
        </p:txBody>
      </p:sp>
      <p:sp>
        <p:nvSpPr>
          <p:cNvPr id="11" name="슬라이드 번호 개체 틀 9">
            <a:extLst>
              <a:ext uri="{FF2B5EF4-FFF2-40B4-BE49-F238E27FC236}">
                <a16:creationId xmlns:a16="http://schemas.microsoft.com/office/drawing/2014/main" id="{63F50C9C-1B25-8FC9-3F60-4A39C1C6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0-0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5689" y="522197"/>
            <a:ext cx="134363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35689" y="1331870"/>
            <a:ext cx="53469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Part 1. GPT-2 I</a:t>
            </a:r>
            <a:r>
              <a:rPr lang="en-US" altLang="ko-KR" dirty="0"/>
              <a:t>mplementation and Task Overview</a:t>
            </a:r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431F9E-2DF8-47B3-EC1E-12886E31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6A76F-B76C-D31E-0CA8-8F000F5E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0-1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3D5C0-EC1A-8197-222B-034031CA738A}"/>
              </a:ext>
            </a:extLst>
          </p:cNvPr>
          <p:cNvSpPr txBox="1"/>
          <p:nvPr/>
        </p:nvSpPr>
        <p:spPr>
          <a:xfrm>
            <a:off x="335689" y="3207223"/>
            <a:ext cx="342549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Part 2. Experimental Evaluation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61D541-074A-AB08-8F1C-C6C85702E594}"/>
              </a:ext>
            </a:extLst>
          </p:cNvPr>
          <p:cNvSpPr txBox="1"/>
          <p:nvPr/>
        </p:nvSpPr>
        <p:spPr>
          <a:xfrm>
            <a:off x="335689" y="4799927"/>
            <a:ext cx="41739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Part 3. Additional Research 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4D804D-7912-F9AE-EDE1-13E2601C4AD3}"/>
              </a:ext>
            </a:extLst>
          </p:cNvPr>
          <p:cNvSpPr txBox="1"/>
          <p:nvPr/>
        </p:nvSpPr>
        <p:spPr>
          <a:xfrm>
            <a:off x="438411" y="1808462"/>
            <a:ext cx="37828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GPT-2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Paraphrase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Sonnet Generation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27D248-5EDD-69E9-30FA-5531497399E4}"/>
              </a:ext>
            </a:extLst>
          </p:cNvPr>
          <p:cNvSpPr txBox="1"/>
          <p:nvPr/>
        </p:nvSpPr>
        <p:spPr>
          <a:xfrm>
            <a:off x="438411" y="3677004"/>
            <a:ext cx="5752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Performance on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Performance on Paraphrase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Performance on Sonnet Generation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5D001B-05B4-24F9-8975-EE52B00CC4A7}"/>
              </a:ext>
            </a:extLst>
          </p:cNvPr>
          <p:cNvSpPr txBox="1"/>
          <p:nvPr/>
        </p:nvSpPr>
        <p:spPr>
          <a:xfrm>
            <a:off x="438410" y="5268547"/>
            <a:ext cx="7358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Evaluation tools for Generation Task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Incorporating Sentiment Information into Poetry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Extending Poetry Generation to Korean Poems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55DFB-8DBA-FF94-24BF-9ADEE4F04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5B4039-CFE8-BA13-9F57-5DABA118DB7E}"/>
              </a:ext>
            </a:extLst>
          </p:cNvPr>
          <p:cNvSpPr/>
          <p:nvPr/>
        </p:nvSpPr>
        <p:spPr>
          <a:xfrm>
            <a:off x="0" y="14926"/>
            <a:ext cx="12192000" cy="6858001"/>
          </a:xfrm>
          <a:prstGeom prst="rect">
            <a:avLst/>
          </a:prstGeom>
          <a:solidFill>
            <a:srgbClr val="7A00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B0952-9C1C-76E7-4EB8-8F2FF2C0AD04}"/>
              </a:ext>
            </a:extLst>
          </p:cNvPr>
          <p:cNvSpPr txBox="1"/>
          <p:nvPr/>
        </p:nvSpPr>
        <p:spPr>
          <a:xfrm>
            <a:off x="1090335" y="3136612"/>
            <a:ext cx="10011330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rPr lang="en-US" altLang="ko-KR" sz="3800" b="1" dirty="0"/>
              <a:t>GPT-2 Implementation and Task Overview</a:t>
            </a:r>
            <a:endParaRPr sz="3800" b="1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0B523080-FCE7-F735-BB1C-A5EA7228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DB82F3F-C16F-11BA-53F3-315EA477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1-0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4480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BF05E-6C80-7BFC-1C20-72EBA5922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DE4E0B-7679-5091-C076-EFE83F7094A8}"/>
              </a:ext>
            </a:extLst>
          </p:cNvPr>
          <p:cNvSpPr txBox="1"/>
          <p:nvPr/>
        </p:nvSpPr>
        <p:spPr>
          <a:xfrm>
            <a:off x="335689" y="522197"/>
            <a:ext cx="342549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lang="en-US" altLang="ko-KR" dirty="0"/>
              <a:t>GPT-2 Architecture</a:t>
            </a:r>
          </a:p>
          <a:p>
            <a:pPr>
              <a:defRPr sz="2600" b="1"/>
            </a:pPr>
            <a:endParaRPr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040BF9-2D67-DAA6-1104-71C555FF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BC6F2-6665-BFBD-F696-A93A08FD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1-1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AD98B08-6F12-3647-9371-A54DE923C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661" y="1331870"/>
            <a:ext cx="3316437" cy="473052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B8739D9-BE12-E0FF-8032-43E8CAC3A7BD}"/>
              </a:ext>
            </a:extLst>
          </p:cNvPr>
          <p:cNvSpPr txBox="1"/>
          <p:nvPr/>
        </p:nvSpPr>
        <p:spPr>
          <a:xfrm>
            <a:off x="335689" y="1331870"/>
            <a:ext cx="304596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Decoder-only transformer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FC59B2-4391-4CC1-6D2A-4C51999D3B78}"/>
              </a:ext>
            </a:extLst>
          </p:cNvPr>
          <p:cNvSpPr txBox="1"/>
          <p:nvPr/>
        </p:nvSpPr>
        <p:spPr>
          <a:xfrm>
            <a:off x="438410" y="1837617"/>
            <a:ext cx="66172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modules/attention.py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modules/gpt2_layer.py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models/gpt2.py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optimizer.py : step 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3798DE-D4BA-B1C6-85A7-EEA14EB2DCE1}"/>
              </a:ext>
            </a:extLst>
          </p:cNvPr>
          <p:cNvSpPr txBox="1"/>
          <p:nvPr/>
        </p:nvSpPr>
        <p:spPr>
          <a:xfrm>
            <a:off x="335687" y="2277910"/>
            <a:ext cx="551452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Implement Masked Multi-head Self Attention layer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199F62-6072-3D9A-C4B9-9B88A32FA9A7}"/>
              </a:ext>
            </a:extLst>
          </p:cNvPr>
          <p:cNvSpPr txBox="1"/>
          <p:nvPr/>
        </p:nvSpPr>
        <p:spPr>
          <a:xfrm>
            <a:off x="335688" y="3311030"/>
            <a:ext cx="44798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Implement full GPT-2 transformer layers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804803-2A74-82B0-4FA7-F9031A5CE7A8}"/>
              </a:ext>
            </a:extLst>
          </p:cNvPr>
          <p:cNvSpPr txBox="1"/>
          <p:nvPr/>
        </p:nvSpPr>
        <p:spPr>
          <a:xfrm>
            <a:off x="335689" y="4424970"/>
            <a:ext cx="617944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Implement the token and positional embedding function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C89E1A-18A7-357D-2B7D-5E0C75F8915A}"/>
              </a:ext>
            </a:extLst>
          </p:cNvPr>
          <p:cNvSpPr txBox="1"/>
          <p:nvPr/>
        </p:nvSpPr>
        <p:spPr>
          <a:xfrm>
            <a:off x="335689" y="5538270"/>
            <a:ext cx="76719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ko-KR" dirty="0" err="1"/>
              <a:t>Completed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AdamW</a:t>
            </a:r>
            <a:r>
              <a:rPr lang="ko-KR" altLang="ko-KR" dirty="0"/>
              <a:t> </a:t>
            </a:r>
            <a:r>
              <a:rPr lang="ko-KR" altLang="ko-KR" dirty="0" err="1"/>
              <a:t>optimizer</a:t>
            </a:r>
            <a:r>
              <a:rPr lang="ko-KR" altLang="ko-KR" dirty="0"/>
              <a:t> </a:t>
            </a:r>
            <a:r>
              <a:rPr lang="ko-KR" altLang="ko-KR" dirty="0" err="1"/>
              <a:t>implementation</a:t>
            </a:r>
            <a:r>
              <a:rPr lang="en-US" dirty="0"/>
              <a:t>, for model training  </a:t>
            </a:r>
          </a:p>
        </p:txBody>
      </p:sp>
    </p:spTree>
    <p:extLst>
      <p:ext uri="{BB962C8B-B14F-4D97-AF65-F5344CB8AC3E}">
        <p14:creationId xmlns:p14="http://schemas.microsoft.com/office/powerpoint/2010/main" val="3452235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24F3B-60E4-9FAF-048F-9632496B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008A1B-3DEB-8637-3C45-15F6CE618DD7}"/>
              </a:ext>
            </a:extLst>
          </p:cNvPr>
          <p:cNvSpPr txBox="1"/>
          <p:nvPr/>
        </p:nvSpPr>
        <p:spPr>
          <a:xfrm>
            <a:off x="335689" y="522197"/>
            <a:ext cx="605275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lang="en-US" dirty="0"/>
              <a:t>Sentiment Analysis (Classification)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77209-22D2-4691-AD7F-36A6F8E77B8C}"/>
              </a:ext>
            </a:extLst>
          </p:cNvPr>
          <p:cNvSpPr txBox="1"/>
          <p:nvPr/>
        </p:nvSpPr>
        <p:spPr>
          <a:xfrm>
            <a:off x="335689" y="1331870"/>
            <a:ext cx="10727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Datasets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77A5BD-DB07-CFE1-E04A-2923A242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98B470-44F2-F07A-C2CD-BF2B1B03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1-2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DC6E7B-0D54-39BA-DC0F-DC2B806A9615}"/>
              </a:ext>
            </a:extLst>
          </p:cNvPr>
          <p:cNvSpPr txBox="1"/>
          <p:nvPr/>
        </p:nvSpPr>
        <p:spPr>
          <a:xfrm>
            <a:off x="438411" y="1808462"/>
            <a:ext cx="60527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SST-5(Stanford Sentiment Treebank-5)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5-class sentiment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Movie review sentences</a:t>
            </a:r>
          </a:p>
          <a:p>
            <a:pPr lvl="1"/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CFIMDB(Counterfactual IMDB)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Binary sentiment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Long-from movie reviews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7ADD8-A398-7276-FDC6-6A27070A65AC}"/>
              </a:ext>
            </a:extLst>
          </p:cNvPr>
          <p:cNvSpPr txBox="1"/>
          <p:nvPr/>
        </p:nvSpPr>
        <p:spPr>
          <a:xfrm>
            <a:off x="335688" y="3919836"/>
            <a:ext cx="663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300A7-4935-9792-E3AA-AC3736633CDD}"/>
              </a:ext>
            </a:extLst>
          </p:cNvPr>
          <p:cNvSpPr txBox="1"/>
          <p:nvPr/>
        </p:nvSpPr>
        <p:spPr>
          <a:xfrm>
            <a:off x="438410" y="4396428"/>
            <a:ext cx="7531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SST-5(Stanford Sentiment Treebank-5)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Multi-class classification  ( 0 (Negative) ~ 4 (Positive)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CFIMDB(Counterfactual IMDB)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Binary-class classification ( 1 (Positive) / 0 (Negative) 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9C92C59-34D9-5C0B-D613-C23C97DE7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067" y="1218898"/>
            <a:ext cx="5806711" cy="3065943"/>
          </a:xfrm>
          <a:prstGeom prst="rect">
            <a:avLst/>
          </a:prstGeom>
        </p:spPr>
      </p:pic>
      <p:pic>
        <p:nvPicPr>
          <p:cNvPr id="16" name="그림 15" descr="Genre Classification Dataset IMDb">
            <a:extLst>
              <a:ext uri="{FF2B5EF4-FFF2-40B4-BE49-F238E27FC236}">
                <a16:creationId xmlns:a16="http://schemas.microsoft.com/office/drawing/2014/main" id="{480278F0-5FDF-23A0-D761-443FC682A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932" y="4489099"/>
            <a:ext cx="2143125" cy="21431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4F46DA-3262-D3E5-4A2C-C71F3489E1A2}"/>
              </a:ext>
            </a:extLst>
          </p:cNvPr>
          <p:cNvSpPr txBox="1"/>
          <p:nvPr/>
        </p:nvSpPr>
        <p:spPr>
          <a:xfrm>
            <a:off x="438411" y="5526130"/>
            <a:ext cx="7531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Train with last layer or full layers</a:t>
            </a:r>
          </a:p>
        </p:txBody>
      </p:sp>
    </p:spTree>
    <p:extLst>
      <p:ext uri="{BB962C8B-B14F-4D97-AF65-F5344CB8AC3E}">
        <p14:creationId xmlns:p14="http://schemas.microsoft.com/office/powerpoint/2010/main" val="68352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D35A2-6857-1CBA-201D-0C462B6E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93E4BF-7A44-F9C7-4069-0C03993DC2DB}"/>
              </a:ext>
            </a:extLst>
          </p:cNvPr>
          <p:cNvSpPr txBox="1"/>
          <p:nvPr/>
        </p:nvSpPr>
        <p:spPr>
          <a:xfrm>
            <a:off x="335689" y="522197"/>
            <a:ext cx="605275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lang="en-US" dirty="0"/>
              <a:t>Sentiment Analysis (Classification)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40DA9-01C5-98EC-5590-40BB97FF47F1}"/>
              </a:ext>
            </a:extLst>
          </p:cNvPr>
          <p:cNvSpPr txBox="1"/>
          <p:nvPr/>
        </p:nvSpPr>
        <p:spPr>
          <a:xfrm>
            <a:off x="335689" y="3827935"/>
            <a:ext cx="12477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C4E528-97C1-1BC7-CA77-FB76B3A4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C13A95-9DD3-94F4-EDC1-C30258D5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1-3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803283-A466-45C7-3689-AACE4695BF0D}"/>
              </a:ext>
            </a:extLst>
          </p:cNvPr>
          <p:cNvSpPr txBox="1"/>
          <p:nvPr/>
        </p:nvSpPr>
        <p:spPr>
          <a:xfrm>
            <a:off x="438411" y="4304527"/>
            <a:ext cx="60527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Macro F1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Average of the F1 scores across all classes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Select best model with accuracy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BB176E-0F87-1A63-B52D-C9165F8AAED1}"/>
              </a:ext>
            </a:extLst>
          </p:cNvPr>
          <p:cNvSpPr txBox="1"/>
          <p:nvPr/>
        </p:nvSpPr>
        <p:spPr>
          <a:xfrm>
            <a:off x="335689" y="1382497"/>
            <a:ext cx="115942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Objective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B73B6C-1976-BEFF-5B1D-C17C069E7BCB}"/>
                  </a:ext>
                </a:extLst>
              </p:cNvPr>
              <p:cNvSpPr txBox="1"/>
              <p:nvPr/>
            </p:nvSpPr>
            <p:spPr>
              <a:xfrm>
                <a:off x="438411" y="1859089"/>
                <a:ext cx="6052754" cy="685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/>
                  <a:t>Cross-Entropy Loss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 = −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B73B6C-1976-BEFF-5B1D-C17C069E7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11" y="1859089"/>
                <a:ext cx="6052754" cy="685829"/>
              </a:xfrm>
              <a:prstGeom prst="rect">
                <a:avLst/>
              </a:prstGeom>
              <a:blipFill>
                <a:blip r:embed="rId2"/>
                <a:stretch>
                  <a:fillRect l="-705" t="-21429" b="-982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700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F0CBF-43AA-4E40-E4C0-840D3668E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F9C56-9131-0176-51D9-BEC04230DFF4}"/>
              </a:ext>
            </a:extLst>
          </p:cNvPr>
          <p:cNvSpPr txBox="1"/>
          <p:nvPr/>
        </p:nvSpPr>
        <p:spPr>
          <a:xfrm>
            <a:off x="335689" y="1331870"/>
            <a:ext cx="10727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Datasets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F6AEE5-9FC8-1DFB-A42F-EED28CA4D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99FA2D-0054-312E-D616-17E06DA26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1-4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ADB048-5232-2A11-D2B0-09D5C7BFB273}"/>
              </a:ext>
            </a:extLst>
          </p:cNvPr>
          <p:cNvSpPr txBox="1"/>
          <p:nvPr/>
        </p:nvSpPr>
        <p:spPr>
          <a:xfrm>
            <a:off x="438411" y="1808462"/>
            <a:ext cx="6052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QQP(Quora Question Pairs)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9E0CB-CC82-83FB-BBDC-7C9FE9BDAE62}"/>
              </a:ext>
            </a:extLst>
          </p:cNvPr>
          <p:cNvSpPr txBox="1"/>
          <p:nvPr/>
        </p:nvSpPr>
        <p:spPr>
          <a:xfrm>
            <a:off x="335689" y="4142298"/>
            <a:ext cx="61837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80C2B-6573-271D-3609-CAB033DD120C}"/>
              </a:ext>
            </a:extLst>
          </p:cNvPr>
          <p:cNvSpPr txBox="1"/>
          <p:nvPr/>
        </p:nvSpPr>
        <p:spPr>
          <a:xfrm>
            <a:off x="438411" y="4590919"/>
            <a:ext cx="9606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Given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pair</a:t>
            </a:r>
            <a:r>
              <a:rPr lang="ko-KR" altLang="ko-KR" dirty="0"/>
              <a:t> of </a:t>
            </a:r>
            <a:r>
              <a:rPr lang="ko-KR" altLang="ko-KR" dirty="0" err="1"/>
              <a:t>sentences</a:t>
            </a:r>
            <a:r>
              <a:rPr lang="ko-KR" altLang="ko-KR" dirty="0"/>
              <a:t>,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model</a:t>
            </a:r>
            <a:r>
              <a:rPr lang="ko-KR" altLang="ko-KR" dirty="0"/>
              <a:t> </a:t>
            </a:r>
            <a:r>
              <a:rPr lang="ko-KR" altLang="ko-KR" dirty="0" err="1"/>
              <a:t>predicts</a:t>
            </a:r>
            <a:r>
              <a:rPr lang="ko-KR" altLang="ko-KR" dirty="0"/>
              <a:t> </a:t>
            </a:r>
            <a:r>
              <a:rPr lang="ko-KR" altLang="ko-KR" dirty="0" err="1"/>
              <a:t>whether</a:t>
            </a:r>
            <a:r>
              <a:rPr lang="ko-KR" altLang="ko-KR" dirty="0"/>
              <a:t> </a:t>
            </a:r>
            <a:r>
              <a:rPr lang="ko-KR" altLang="ko-KR" dirty="0" err="1"/>
              <a:t>they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semantically</a:t>
            </a:r>
            <a:r>
              <a:rPr lang="ko-KR" altLang="ko-KR" dirty="0"/>
              <a:t> </a:t>
            </a:r>
            <a:r>
              <a:rPr lang="ko-KR" altLang="ko-KR" dirty="0" err="1"/>
              <a:t>equivalent</a:t>
            </a:r>
            <a:r>
              <a:rPr lang="ko-KR" altLang="ko-KR" dirty="0"/>
              <a:t>.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9CE307-A188-F0E4-ACC4-4FE6185E0C7A}"/>
              </a:ext>
            </a:extLst>
          </p:cNvPr>
          <p:cNvSpPr txBox="1"/>
          <p:nvPr/>
        </p:nvSpPr>
        <p:spPr>
          <a:xfrm>
            <a:off x="335689" y="522197"/>
            <a:ext cx="368025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lang="en-US" altLang="ko-KR" dirty="0"/>
              <a:t>Paraphrase Detection</a:t>
            </a:r>
          </a:p>
          <a:p>
            <a:pPr>
              <a:defRPr sz="2600" b="1"/>
            </a:pPr>
            <a:endParaRPr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4E732A9-72E1-118B-6615-2AF94DEFF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760" y="2368901"/>
            <a:ext cx="7686154" cy="17080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17BCA7F-464C-BC97-B981-29D4D5A1D732}"/>
              </a:ext>
            </a:extLst>
          </p:cNvPr>
          <p:cNvSpPr txBox="1"/>
          <p:nvPr/>
        </p:nvSpPr>
        <p:spPr>
          <a:xfrm>
            <a:off x="335689" y="5181330"/>
            <a:ext cx="12477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FB8C55-FB2A-CAC1-6E82-0F28D846756F}"/>
              </a:ext>
            </a:extLst>
          </p:cNvPr>
          <p:cNvSpPr txBox="1"/>
          <p:nvPr/>
        </p:nvSpPr>
        <p:spPr>
          <a:xfrm>
            <a:off x="438411" y="5624487"/>
            <a:ext cx="9606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Binary F1 Score</a:t>
            </a:r>
          </a:p>
        </p:txBody>
      </p:sp>
    </p:spTree>
    <p:extLst>
      <p:ext uri="{BB962C8B-B14F-4D97-AF65-F5344CB8AC3E}">
        <p14:creationId xmlns:p14="http://schemas.microsoft.com/office/powerpoint/2010/main" val="397939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84556-8CB7-BAED-5565-B7FEFA2C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B3497B-5362-55B1-0466-767430011329}"/>
              </a:ext>
            </a:extLst>
          </p:cNvPr>
          <p:cNvSpPr txBox="1"/>
          <p:nvPr/>
        </p:nvSpPr>
        <p:spPr>
          <a:xfrm>
            <a:off x="335689" y="522197"/>
            <a:ext cx="3167855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altLang="ko-KR" dirty="0"/>
              <a:t>Sonnet Generation</a:t>
            </a:r>
            <a:endParaRPr lang="ko-KR" altLang="en-US" dirty="0"/>
          </a:p>
          <a:p>
            <a:pPr>
              <a:defRPr sz="2600" b="1"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611569-0B52-DFA3-D800-9FD834636FA0}"/>
              </a:ext>
            </a:extLst>
          </p:cNvPr>
          <p:cNvSpPr txBox="1"/>
          <p:nvPr/>
        </p:nvSpPr>
        <p:spPr>
          <a:xfrm>
            <a:off x="335689" y="1230083"/>
            <a:ext cx="74268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sonnet</a:t>
            </a:r>
            <a:r>
              <a:rPr lang="ko-KR" altLang="ko-KR" dirty="0"/>
              <a:t> </a:t>
            </a:r>
            <a:r>
              <a:rPr lang="ko-KR" altLang="ko-KR" dirty="0" err="1"/>
              <a:t>is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traditional</a:t>
            </a:r>
            <a:r>
              <a:rPr lang="ko-KR" altLang="ko-KR" dirty="0"/>
              <a:t> </a:t>
            </a:r>
            <a:r>
              <a:rPr lang="ko-KR" altLang="ko-KR" dirty="0" err="1"/>
              <a:t>European</a:t>
            </a:r>
            <a:r>
              <a:rPr lang="ko-KR" altLang="ko-KR" dirty="0"/>
              <a:t> </a:t>
            </a:r>
            <a:r>
              <a:rPr lang="ko-KR" altLang="ko-KR" dirty="0" err="1"/>
              <a:t>poetic</a:t>
            </a:r>
            <a:r>
              <a:rPr lang="ko-KR" altLang="ko-KR" dirty="0"/>
              <a:t> </a:t>
            </a:r>
            <a:r>
              <a:rPr lang="ko-KR" altLang="ko-KR" dirty="0" err="1"/>
              <a:t>form</a:t>
            </a:r>
            <a:r>
              <a:rPr lang="ko-KR" altLang="ko-KR" dirty="0"/>
              <a:t> </a:t>
            </a:r>
            <a:r>
              <a:rPr lang="ko-KR" altLang="ko-KR" dirty="0" err="1"/>
              <a:t>consisting</a:t>
            </a:r>
            <a:r>
              <a:rPr lang="ko-KR" altLang="ko-KR" dirty="0"/>
              <a:t> of 14 </a:t>
            </a:r>
            <a:r>
              <a:rPr lang="ko-KR" altLang="ko-KR" dirty="0" err="1"/>
              <a:t>lines</a:t>
            </a:r>
            <a:r>
              <a:rPr lang="ko-KR" altLang="ko-KR" dirty="0"/>
              <a:t>.</a:t>
            </a:r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5DDFB0-D259-103C-9EF7-066803A0C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787557-0AD1-4017-4AAB-045F652B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1-5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C8F98-3D2F-BE8E-CD7B-B2721A62F2DD}"/>
              </a:ext>
            </a:extLst>
          </p:cNvPr>
          <p:cNvSpPr txBox="1"/>
          <p:nvPr/>
        </p:nvSpPr>
        <p:spPr>
          <a:xfrm>
            <a:off x="335689" y="1670349"/>
            <a:ext cx="10727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Datasets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12895F-3DA8-09DA-2BCE-CF3D2F79FAC2}"/>
              </a:ext>
            </a:extLst>
          </p:cNvPr>
          <p:cNvSpPr txBox="1"/>
          <p:nvPr/>
        </p:nvSpPr>
        <p:spPr>
          <a:xfrm>
            <a:off x="335689" y="2095685"/>
            <a:ext cx="6052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Shakespears</a:t>
            </a:r>
            <a:r>
              <a:rPr lang="en-US" altLang="ko-KR" dirty="0"/>
              <a:t> sonnet(154 sonnets)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131 sonnets for train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12 sonnets for dev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12 sonnets for test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/>
              <a:t>(138) in dev = (155) in test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0E8EF33-0534-55C9-35D1-5884DCAE4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946" y="2412948"/>
            <a:ext cx="3054507" cy="101605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594B360-5657-69DC-160F-606D57860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415" y="2412948"/>
            <a:ext cx="3010055" cy="10097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E056BA-435E-2A7A-3AF3-7AD8A570A876}"/>
              </a:ext>
            </a:extLst>
          </p:cNvPr>
          <p:cNvSpPr txBox="1"/>
          <p:nvPr/>
        </p:nvSpPr>
        <p:spPr>
          <a:xfrm>
            <a:off x="335689" y="3739913"/>
            <a:ext cx="61837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Task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FD8DD9-3924-583A-32FE-C890569F6574}"/>
              </a:ext>
            </a:extLst>
          </p:cNvPr>
          <p:cNvSpPr txBox="1"/>
          <p:nvPr/>
        </p:nvSpPr>
        <p:spPr>
          <a:xfrm>
            <a:off x="438410" y="4188534"/>
            <a:ext cx="10889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 err="1"/>
              <a:t>Generate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remaining</a:t>
            </a:r>
            <a:r>
              <a:rPr lang="ko-KR" altLang="ko-KR" dirty="0"/>
              <a:t> 11 </a:t>
            </a:r>
            <a:r>
              <a:rPr lang="ko-KR" altLang="ko-KR" dirty="0" err="1"/>
              <a:t>lines</a:t>
            </a:r>
            <a:r>
              <a:rPr lang="ko-KR" altLang="ko-KR" dirty="0"/>
              <a:t> of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Shakespeare-style</a:t>
            </a:r>
            <a:r>
              <a:rPr lang="ko-KR" altLang="ko-KR" dirty="0"/>
              <a:t> </a:t>
            </a:r>
            <a:r>
              <a:rPr lang="ko-KR" altLang="ko-KR" dirty="0" err="1"/>
              <a:t>sonnet</a:t>
            </a:r>
            <a:r>
              <a:rPr lang="ko-KR" altLang="ko-KR" dirty="0"/>
              <a:t> </a:t>
            </a:r>
            <a:r>
              <a:rPr lang="ko-KR" altLang="ko-KR" dirty="0" err="1"/>
              <a:t>given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first</a:t>
            </a:r>
            <a:r>
              <a:rPr lang="ko-KR" altLang="ko-KR" dirty="0"/>
              <a:t> 3 </a:t>
            </a:r>
            <a:r>
              <a:rPr lang="ko-KR" altLang="ko-KR" dirty="0" err="1"/>
              <a:t>lines</a:t>
            </a:r>
            <a:r>
              <a:rPr lang="ko-KR" altLang="ko-KR" dirty="0"/>
              <a:t> </a:t>
            </a:r>
            <a:r>
              <a:rPr lang="ko-KR" altLang="ko-KR" dirty="0" err="1"/>
              <a:t>as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prompt</a:t>
            </a:r>
            <a:r>
              <a:rPr lang="ko-KR" altLang="ko-KR" dirty="0"/>
              <a:t>.</a:t>
            </a:r>
            <a:endParaRPr lang="en-US" altLang="ko-K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17B514-7F57-4A0A-BC0E-8ABFDC94F6E0}"/>
              </a:ext>
            </a:extLst>
          </p:cNvPr>
          <p:cNvSpPr txBox="1"/>
          <p:nvPr/>
        </p:nvSpPr>
        <p:spPr>
          <a:xfrm>
            <a:off x="335689" y="4778945"/>
            <a:ext cx="124777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543390-168A-A081-A43F-1DC0488A0654}"/>
              </a:ext>
            </a:extLst>
          </p:cNvPr>
          <p:cNvSpPr txBox="1"/>
          <p:nvPr/>
        </p:nvSpPr>
        <p:spPr>
          <a:xfrm>
            <a:off x="438411" y="5222102"/>
            <a:ext cx="11592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dirty="0"/>
              <a:t>The </a:t>
            </a:r>
            <a:r>
              <a:rPr lang="ko-KR" altLang="ko-KR" dirty="0" err="1"/>
              <a:t>original</a:t>
            </a:r>
            <a:r>
              <a:rPr lang="ko-KR" altLang="ko-KR" dirty="0"/>
              <a:t> CS224N </a:t>
            </a:r>
            <a:r>
              <a:rPr lang="ko-KR" altLang="ko-KR" dirty="0" err="1"/>
              <a:t>project</a:t>
            </a:r>
            <a:r>
              <a:rPr lang="ko-KR" altLang="ko-KR" dirty="0"/>
              <a:t> </a:t>
            </a:r>
            <a:r>
              <a:rPr lang="ko-KR" altLang="ko-KR" dirty="0" err="1"/>
              <a:t>does</a:t>
            </a:r>
            <a:r>
              <a:rPr lang="ko-KR" altLang="ko-KR" dirty="0"/>
              <a:t> </a:t>
            </a:r>
            <a:r>
              <a:rPr lang="ko-KR" altLang="ko-KR" dirty="0" err="1"/>
              <a:t>not</a:t>
            </a:r>
            <a:r>
              <a:rPr lang="ko-KR" altLang="ko-KR" dirty="0"/>
              <a:t> </a:t>
            </a:r>
            <a:r>
              <a:rPr lang="ko-KR" altLang="ko-KR" dirty="0" err="1"/>
              <a:t>provide</a:t>
            </a:r>
            <a:r>
              <a:rPr lang="ko-KR" altLang="ko-KR" dirty="0"/>
              <a:t> </a:t>
            </a:r>
            <a:r>
              <a:rPr lang="ko-KR" altLang="ko-KR" dirty="0" err="1"/>
              <a:t>an</a:t>
            </a:r>
            <a:r>
              <a:rPr lang="ko-KR" altLang="ko-KR" dirty="0"/>
              <a:t> </a:t>
            </a:r>
            <a:r>
              <a:rPr lang="ko-KR" altLang="ko-KR" dirty="0" err="1"/>
              <a:t>official</a:t>
            </a:r>
            <a:r>
              <a:rPr lang="ko-KR" altLang="ko-KR" dirty="0"/>
              <a:t> </a:t>
            </a:r>
            <a:r>
              <a:rPr lang="ko-KR" altLang="ko-KR" dirty="0" err="1"/>
              <a:t>evaluation</a:t>
            </a:r>
            <a:r>
              <a:rPr lang="ko-KR" altLang="ko-KR" dirty="0"/>
              <a:t> </a:t>
            </a:r>
            <a:r>
              <a:rPr lang="ko-KR" altLang="ko-KR" dirty="0" err="1"/>
              <a:t>metric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sonnet</a:t>
            </a:r>
            <a:r>
              <a:rPr lang="ko-KR" altLang="ko-KR" dirty="0"/>
              <a:t> </a:t>
            </a:r>
            <a:r>
              <a:rPr lang="ko-KR" altLang="ko-KR" dirty="0" err="1"/>
              <a:t>generation</a:t>
            </a:r>
            <a:r>
              <a:rPr lang="ko-KR" altLang="ko-KR" dirty="0"/>
              <a:t> </a:t>
            </a:r>
            <a:r>
              <a:rPr lang="ko-KR" altLang="ko-KR" dirty="0" err="1"/>
              <a:t>task</a:t>
            </a:r>
            <a:r>
              <a:rPr lang="ko-KR" altLang="ko-KR" dirty="0"/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23779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0E7E8-11F4-6261-5321-9B3B3C516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F0C7F-6314-6089-D5A8-0B42EF231AC0}"/>
              </a:ext>
            </a:extLst>
          </p:cNvPr>
          <p:cNvSpPr/>
          <p:nvPr/>
        </p:nvSpPr>
        <p:spPr>
          <a:xfrm>
            <a:off x="0" y="14926"/>
            <a:ext cx="12192000" cy="6858001"/>
          </a:xfrm>
          <a:prstGeom prst="rect">
            <a:avLst/>
          </a:prstGeom>
          <a:solidFill>
            <a:srgbClr val="7A00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03B76-6A50-43EC-B982-2A62AF12AC95}"/>
              </a:ext>
            </a:extLst>
          </p:cNvPr>
          <p:cNvSpPr txBox="1"/>
          <p:nvPr/>
        </p:nvSpPr>
        <p:spPr>
          <a:xfrm>
            <a:off x="3208832" y="3170184"/>
            <a:ext cx="577433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rPr lang="en-US" altLang="ko-KR" sz="3800" b="1" dirty="0"/>
              <a:t>Experimental Evaluation</a:t>
            </a:r>
            <a:endParaRPr sz="3800" b="1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EE3A3A7F-3222-8EAA-421F-82A0CB974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482BA17-8494-05F5-DBDC-F1D24B38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2-0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6941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411480"/>
            <a:ext cx="586744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altLang="ko-KR"/>
              <a:t>Performance on Sentiment Analysis</a:t>
            </a:r>
            <a:endParaRPr lang="en-US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4EC943A0-D753-809A-082F-6B660CE8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77AC138-065D-E09C-9333-F4721703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/>
              <a:t>2-1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22F7BCF-6371-56FC-9324-607FEE4A5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687" y="1361375"/>
            <a:ext cx="7342626" cy="46889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DE288-BCD8-85B5-06EE-43FC3DE2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CB5830-F0DA-036B-05BC-190D828B918B}"/>
              </a:ext>
            </a:extLst>
          </p:cNvPr>
          <p:cNvSpPr txBox="1"/>
          <p:nvPr/>
        </p:nvSpPr>
        <p:spPr>
          <a:xfrm>
            <a:off x="274320" y="411480"/>
            <a:ext cx="6244595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altLang="ko-KR" dirty="0"/>
              <a:t>Performance on Paraphrase Detection</a:t>
            </a:r>
          </a:p>
          <a:p>
            <a:pPr>
              <a:defRPr sz="2600" b="1"/>
            </a:pPr>
            <a:endParaRPr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C8D8537E-FCE0-2120-3425-1BA8A759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C53CE81-8DA1-9B34-1329-8925FD01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2-2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B8F637E-739F-1DE5-D991-49F60A663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508" y="1304032"/>
            <a:ext cx="7202984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3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04DF-ECDC-9B87-A242-170A2EE5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26D4CE-4992-6E0D-754F-E410678249DB}"/>
              </a:ext>
            </a:extLst>
          </p:cNvPr>
          <p:cNvSpPr txBox="1"/>
          <p:nvPr/>
        </p:nvSpPr>
        <p:spPr>
          <a:xfrm>
            <a:off x="274320" y="411480"/>
            <a:ext cx="586744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altLang="ko-KR" dirty="0"/>
              <a:t>Performance on Sonnet Generation</a:t>
            </a:r>
            <a:endParaRPr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D9F7A210-E9F1-B74C-1B44-1BD7A46A2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953DBE5-7370-5B36-893B-0D6112C8B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2-3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94FB2-014B-4E3B-CC66-B6C357451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82" y="1232431"/>
            <a:ext cx="4368833" cy="4787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365702-35D7-033C-B635-3D2B873638D6}"/>
              </a:ext>
            </a:extLst>
          </p:cNvPr>
          <p:cNvSpPr txBox="1"/>
          <p:nvPr/>
        </p:nvSpPr>
        <p:spPr>
          <a:xfrm>
            <a:off x="1725245" y="6079135"/>
            <a:ext cx="23407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Sonnet 146(Original)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EEA142E-142C-9C57-2ACC-C8BDF9F24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607" y="3626116"/>
            <a:ext cx="5492882" cy="23791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2C7381-40C5-ABC7-C8EB-F6F5D2304C39}"/>
              </a:ext>
            </a:extLst>
          </p:cNvPr>
          <p:cNvSpPr txBox="1"/>
          <p:nvPr/>
        </p:nvSpPr>
        <p:spPr>
          <a:xfrm>
            <a:off x="7166608" y="6079696"/>
            <a:ext cx="2604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Sonnet 146(Generated)</a:t>
            </a:r>
          </a:p>
        </p:txBody>
      </p:sp>
    </p:spTree>
    <p:extLst>
      <p:ext uri="{BB962C8B-B14F-4D97-AF65-F5344CB8AC3E}">
        <p14:creationId xmlns:p14="http://schemas.microsoft.com/office/powerpoint/2010/main" val="2118670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70EB8-E41C-2A52-826B-F19C87FB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A60330-D3C3-DD89-AFAD-99187E299CEC}"/>
              </a:ext>
            </a:extLst>
          </p:cNvPr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7A00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30011D-4F09-4E4F-530C-3CB55E51D318}"/>
              </a:ext>
            </a:extLst>
          </p:cNvPr>
          <p:cNvSpPr txBox="1"/>
          <p:nvPr/>
        </p:nvSpPr>
        <p:spPr>
          <a:xfrm>
            <a:off x="2449650" y="3151538"/>
            <a:ext cx="729270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rPr lang="en-US" altLang="ko-KR" sz="3800" b="1" dirty="0"/>
              <a:t>Additional Research Questions</a:t>
            </a:r>
            <a:endParaRPr sz="3800" b="1" dirty="0"/>
          </a:p>
        </p:txBody>
      </p: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6BA0979C-F2AD-BF03-628A-08A53D00F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5E6A14E4-8ED7-2E65-BC85-9ED359DA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3-0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7668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411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00573"/>
            <a:ext cx="1219169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2400" dirty="0" err="1"/>
              <a:t>How</a:t>
            </a:r>
            <a:r>
              <a:rPr lang="ko-KR" altLang="ko-KR" sz="2400" dirty="0"/>
              <a:t> </a:t>
            </a:r>
            <a:r>
              <a:rPr lang="ko-KR" altLang="ko-KR" sz="2400" dirty="0" err="1"/>
              <a:t>can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we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objectively</a:t>
            </a:r>
            <a:r>
              <a:rPr lang="ko-KR" altLang="ko-KR" sz="2400" dirty="0"/>
              <a:t> </a:t>
            </a:r>
            <a:r>
              <a:rPr lang="ko-KR" altLang="ko-KR" sz="2400" b="1" dirty="0" err="1">
                <a:solidFill>
                  <a:srgbClr val="FF0000"/>
                </a:solidFill>
              </a:rPr>
              <a:t>evaluate</a:t>
            </a:r>
            <a:r>
              <a:rPr lang="en-US" altLang="ko-KR" sz="2400" dirty="0"/>
              <a:t> the quality of generated poems based on GPT2?</a:t>
            </a:r>
            <a:endParaRPr lang="en-US" sz="240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4931163F-386E-EC1D-5D04-B45B5860E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984E8FC-A873-F273-F6E2-67405B7C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3-1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641EA-DC2F-33AD-090A-999C1671CC1A}"/>
              </a:ext>
            </a:extLst>
          </p:cNvPr>
          <p:cNvSpPr txBox="1"/>
          <p:nvPr/>
        </p:nvSpPr>
        <p:spPr>
          <a:xfrm>
            <a:off x="684103" y="3043644"/>
            <a:ext cx="1026329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600" dirty="0"/>
              <a:t>Answer : </a:t>
            </a:r>
            <a:r>
              <a:rPr lang="en-US" altLang="ko-KR" sz="2600" dirty="0" err="1"/>
              <a:t>chrF</a:t>
            </a:r>
            <a:r>
              <a:rPr lang="en-US" altLang="ko-KR" sz="2600" dirty="0"/>
              <a:t>(</a:t>
            </a:r>
            <a:r>
              <a:rPr lang="en-US" altLang="ko-KR" sz="2600" dirty="0" err="1"/>
              <a:t>ChaRacter</a:t>
            </a:r>
            <a:r>
              <a:rPr lang="en-US" altLang="ko-KR" sz="2600" dirty="0"/>
              <a:t> n-gram F-score) or </a:t>
            </a:r>
            <a:r>
              <a:rPr lang="en-US" altLang="ko-KR" sz="2600" dirty="0" err="1"/>
              <a:t>BERTScore</a:t>
            </a:r>
            <a:endParaRPr sz="26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2D69F24-D844-CADC-4AA5-DB624CFB6171}"/>
              </a:ext>
            </a:extLst>
          </p:cNvPr>
          <p:cNvGrpSpPr/>
          <p:nvPr/>
        </p:nvGrpSpPr>
        <p:grpSpPr>
          <a:xfrm>
            <a:off x="684103" y="4213437"/>
            <a:ext cx="11347153" cy="1796883"/>
            <a:chOff x="684103" y="4213437"/>
            <a:chExt cx="11347153" cy="179688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B54DC9-E085-2493-A121-138A7260BF4C}"/>
                </a:ext>
              </a:extLst>
            </p:cNvPr>
            <p:cNvSpPr txBox="1"/>
            <p:nvPr/>
          </p:nvSpPr>
          <p:spPr>
            <a:xfrm>
              <a:off x="684103" y="5086990"/>
              <a:ext cx="1053656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 err="1"/>
                <a:t>BERTScore</a:t>
              </a:r>
              <a:r>
                <a:rPr lang="en-US" altLang="ko-KR" dirty="0"/>
                <a:t> measures </a:t>
              </a:r>
              <a:r>
                <a:rPr lang="en-US" altLang="ko-KR" dirty="0">
                  <a:solidFill>
                    <a:srgbClr val="0070C0"/>
                  </a:solidFill>
                </a:rPr>
                <a:t>semantic similarity </a:t>
              </a:r>
              <a:r>
                <a:rPr lang="en-US" altLang="ko-KR" dirty="0"/>
                <a:t>using </a:t>
              </a:r>
              <a:r>
                <a:rPr lang="en-US" altLang="ko-KR" dirty="0">
                  <a:solidFill>
                    <a:srgbClr val="0070C0"/>
                  </a:solidFill>
                </a:rPr>
                <a:t>contextual embeddings</a:t>
              </a:r>
              <a:r>
                <a:rPr lang="en-US" altLang="ko-KR" dirty="0"/>
                <a:t>, enabling fairer evaluation of generated text. It captures meaning beyond exact word matches, aligns better with human judgment, and works well across tasks and languages.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3003E77-13E6-A12C-E581-C709D49A8FDC}"/>
                </a:ext>
              </a:extLst>
            </p:cNvPr>
            <p:cNvSpPr txBox="1"/>
            <p:nvPr/>
          </p:nvSpPr>
          <p:spPr>
            <a:xfrm>
              <a:off x="9642805" y="5733321"/>
              <a:ext cx="23884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1"/>
                  </a:solidFill>
                </a:rPr>
                <a:t>From bertscore.com</a:t>
              </a:r>
              <a:endParaRPr lang="ko-KR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C216BEC-9159-91E8-70FA-14C97DE91B4F}"/>
                </a:ext>
              </a:extLst>
            </p:cNvPr>
            <p:cNvSpPr txBox="1"/>
            <p:nvPr/>
          </p:nvSpPr>
          <p:spPr>
            <a:xfrm>
              <a:off x="684103" y="4213437"/>
              <a:ext cx="105365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dirty="0" err="1"/>
                <a:t>chrF</a:t>
              </a:r>
              <a:r>
                <a:rPr lang="ko-KR" altLang="ko-KR" dirty="0"/>
                <a:t> </a:t>
              </a:r>
              <a:r>
                <a:rPr lang="ko-KR" altLang="ko-KR" dirty="0" err="1"/>
                <a:t>Metric</a:t>
              </a:r>
              <a:r>
                <a:rPr lang="ko-KR" altLang="ko-KR" dirty="0"/>
                <a:t> </a:t>
              </a:r>
              <a:r>
                <a:rPr lang="ko-KR" altLang="ko-KR" dirty="0" err="1"/>
                <a:t>is</a:t>
              </a:r>
              <a:r>
                <a:rPr lang="ko-KR" altLang="ko-KR" dirty="0"/>
                <a:t> </a:t>
              </a:r>
              <a:r>
                <a:rPr lang="ko-KR" altLang="ko-KR" dirty="0" err="1">
                  <a:solidFill>
                    <a:srgbClr val="0070C0"/>
                  </a:solidFill>
                </a:rPr>
                <a:t>a</a:t>
              </a:r>
              <a:r>
                <a:rPr lang="ko-KR" altLang="ko-KR" dirty="0">
                  <a:solidFill>
                    <a:srgbClr val="0070C0"/>
                  </a:solidFill>
                </a:rPr>
                <a:t> </a:t>
              </a:r>
              <a:r>
                <a:rPr lang="ko-KR" altLang="ko-KR" dirty="0" err="1">
                  <a:solidFill>
                    <a:srgbClr val="0070C0"/>
                  </a:solidFill>
                </a:rPr>
                <a:t>character-level</a:t>
              </a:r>
              <a:r>
                <a:rPr lang="ko-KR" altLang="ko-KR" dirty="0">
                  <a:solidFill>
                    <a:srgbClr val="0070C0"/>
                  </a:solidFill>
                </a:rPr>
                <a:t> </a:t>
              </a:r>
              <a:r>
                <a:rPr lang="ko-KR" altLang="ko-KR" dirty="0" err="1">
                  <a:solidFill>
                    <a:srgbClr val="0070C0"/>
                  </a:solidFill>
                </a:rPr>
                <a:t>evaluation</a:t>
              </a:r>
              <a:r>
                <a:rPr lang="ko-KR" altLang="ko-KR" dirty="0">
                  <a:solidFill>
                    <a:srgbClr val="0070C0"/>
                  </a:solidFill>
                </a:rPr>
                <a:t> </a:t>
              </a:r>
              <a:r>
                <a:rPr lang="ko-KR" altLang="ko-KR" dirty="0" err="1"/>
                <a:t>method</a:t>
              </a:r>
              <a:r>
                <a:rPr lang="ko-KR" altLang="ko-KR" dirty="0"/>
                <a:t> </a:t>
              </a:r>
              <a:r>
                <a:rPr lang="ko-KR" altLang="ko-KR" dirty="0" err="1"/>
                <a:t>that</a:t>
              </a:r>
              <a:r>
                <a:rPr lang="ko-KR" altLang="ko-KR" dirty="0"/>
                <a:t> </a:t>
              </a:r>
              <a:r>
                <a:rPr lang="ko-KR" altLang="ko-KR" dirty="0" err="1"/>
                <a:t>computes</a:t>
              </a:r>
              <a:r>
                <a:rPr lang="ko-KR" altLang="ko-KR" dirty="0"/>
                <a:t> </a:t>
              </a:r>
              <a:r>
                <a:rPr lang="ko-KR" altLang="ko-KR" dirty="0" err="1"/>
                <a:t>an</a:t>
              </a:r>
              <a:r>
                <a:rPr lang="ko-KR" altLang="ko-KR" dirty="0"/>
                <a:t> </a:t>
              </a:r>
              <a:r>
                <a:rPr lang="ko-KR" altLang="ko-KR" dirty="0" err="1"/>
                <a:t>F-score</a:t>
              </a:r>
              <a:r>
                <a:rPr lang="ko-KR" altLang="ko-KR" dirty="0"/>
                <a:t> </a:t>
              </a:r>
              <a:r>
                <a:rPr lang="ko-KR" altLang="ko-KR" dirty="0" err="1"/>
                <a:t>over</a:t>
              </a:r>
              <a:r>
                <a:rPr lang="ko-KR" altLang="ko-KR" dirty="0"/>
                <a:t> </a:t>
              </a:r>
              <a:r>
                <a:rPr lang="ko-KR" altLang="ko-KR" dirty="0" err="1"/>
                <a:t>n-gram</a:t>
              </a:r>
              <a:r>
                <a:rPr lang="ko-KR" altLang="ko-KR" dirty="0"/>
                <a:t> </a:t>
              </a:r>
              <a:r>
                <a:rPr lang="ko-KR" altLang="ko-KR" dirty="0" err="1"/>
                <a:t>overlaps</a:t>
              </a:r>
              <a:r>
                <a:rPr lang="ko-KR" altLang="ko-KR" dirty="0"/>
                <a:t> </a:t>
              </a:r>
              <a:r>
                <a:rPr lang="ko-KR" altLang="ko-KR" dirty="0" err="1"/>
                <a:t>to</a:t>
              </a:r>
              <a:r>
                <a:rPr lang="ko-KR" altLang="ko-KR" dirty="0"/>
                <a:t> </a:t>
              </a:r>
              <a:r>
                <a:rPr lang="ko-KR" altLang="ko-KR" dirty="0" err="1"/>
                <a:t>capture</a:t>
              </a:r>
              <a:r>
                <a:rPr lang="ko-KR" altLang="ko-KR" dirty="0"/>
                <a:t> </a:t>
              </a:r>
              <a:r>
                <a:rPr lang="ko-KR" altLang="ko-KR" dirty="0" err="1"/>
                <a:t>morphological</a:t>
              </a:r>
              <a:r>
                <a:rPr lang="ko-KR" altLang="ko-KR" dirty="0"/>
                <a:t> and </a:t>
              </a:r>
              <a:r>
                <a:rPr lang="ko-KR" altLang="ko-KR" dirty="0" err="1"/>
                <a:t>inflectional</a:t>
              </a:r>
              <a:r>
                <a:rPr lang="ko-KR" altLang="ko-KR" dirty="0"/>
                <a:t> </a:t>
              </a:r>
              <a:r>
                <a:rPr lang="ko-KR" altLang="ko-KR" dirty="0" err="1"/>
                <a:t>variability</a:t>
              </a:r>
              <a:r>
                <a:rPr lang="ko-KR" altLang="ko-KR" dirty="0"/>
                <a:t>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EB62DD-0E7E-977B-0A62-635FD93678F3}"/>
                </a:ext>
              </a:extLst>
            </p:cNvPr>
            <p:cNvSpPr txBox="1"/>
            <p:nvPr/>
          </p:nvSpPr>
          <p:spPr>
            <a:xfrm>
              <a:off x="7714710" y="4579611"/>
              <a:ext cx="37931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accent1"/>
                  </a:solidFill>
                </a:rPr>
                <a:t>From </a:t>
              </a:r>
              <a:r>
                <a:rPr lang="en-US" altLang="ko-KR" sz="1200" dirty="0" err="1">
                  <a:solidFill>
                    <a:schemeClr val="accent1"/>
                  </a:solidFill>
                </a:rPr>
                <a:t>chrF</a:t>
              </a:r>
              <a:r>
                <a:rPr lang="en-US" altLang="ko-KR" sz="1200" dirty="0">
                  <a:solidFill>
                    <a:schemeClr val="accent1"/>
                  </a:solidFill>
                </a:rPr>
                <a:t>++ : words helping character n-grams</a:t>
              </a:r>
              <a:endParaRPr lang="ko-KR" altLang="en-US" sz="1200" dirty="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8F318-DFA6-57D3-0158-7176BC4CF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5EDF4C-7FE4-4F38-0C5B-162F14A2F1C7}"/>
              </a:ext>
            </a:extLst>
          </p:cNvPr>
          <p:cNvSpPr txBox="1"/>
          <p:nvPr/>
        </p:nvSpPr>
        <p:spPr>
          <a:xfrm>
            <a:off x="335689" y="522197"/>
            <a:ext cx="950196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/>
              <a:t>Evaluation Sonnet Generation Task with </a:t>
            </a:r>
            <a:r>
              <a:rPr lang="en-US" dirty="0" err="1"/>
              <a:t>chrF</a:t>
            </a:r>
            <a:r>
              <a:rPr lang="en-US" dirty="0"/>
              <a:t> &amp; </a:t>
            </a:r>
            <a:r>
              <a:rPr lang="en-US" dirty="0" err="1"/>
              <a:t>BERTScore</a:t>
            </a:r>
            <a:endParaRPr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964D67-1AD9-6E5B-590E-7612C638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AB50FC-F900-FACA-21F8-E39A99E5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3-2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3053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F4D0-6E86-08CE-0D5F-BDCB908D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A66146-3AD1-FEA6-F39F-0C6F4A04C6B5}"/>
              </a:ext>
            </a:extLst>
          </p:cNvPr>
          <p:cNvSpPr txBox="1"/>
          <p:nvPr/>
        </p:nvSpPr>
        <p:spPr>
          <a:xfrm>
            <a:off x="335689" y="522197"/>
            <a:ext cx="447282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/>
              <a:t>Motivation – Related Work</a:t>
            </a:r>
            <a:endParaRPr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5615A-83D9-6DBB-98ED-5F0B626D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 dirty="0"/>
              <a:t>SOGANG UNIVERSITY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19F411-98B2-B580-1DF4-6A8C5030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 dirty="0"/>
              <a:t>3-4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152B7D-4F86-B3FC-B444-A3C2A08B73B3}"/>
              </a:ext>
            </a:extLst>
          </p:cNvPr>
          <p:cNvSpPr txBox="1"/>
          <p:nvPr/>
        </p:nvSpPr>
        <p:spPr>
          <a:xfrm>
            <a:off x="7012517" y="6507802"/>
            <a:ext cx="67098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1500" b="0" i="0" u="sng" dirty="0">
                <a:solidFill>
                  <a:srgbClr val="006FB7"/>
                </a:solidFill>
                <a:effectLst/>
                <a:latin typeface="Source Sans Pro" panose="020F0502020204030204" pitchFamily="34" charset="0"/>
                <a:hlinkClick r:id="rId2"/>
              </a:rPr>
              <a:t>https://doi.org/10.1093/llc/fqaf018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AEB18-ADCC-3DAB-A23C-769DF795DB7E}"/>
              </a:ext>
            </a:extLst>
          </p:cNvPr>
          <p:cNvSpPr txBox="1"/>
          <p:nvPr/>
        </p:nvSpPr>
        <p:spPr>
          <a:xfrm>
            <a:off x="335689" y="1267708"/>
            <a:ext cx="7471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i="0" dirty="0" err="1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Sentiment</a:t>
            </a:r>
            <a:r>
              <a:rPr lang="ko-KR" altLang="ko-KR" b="1" i="0" dirty="0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 </a:t>
            </a:r>
            <a:r>
              <a:rPr lang="ko-KR" altLang="ko-KR" b="1" i="0" dirty="0" err="1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analysis</a:t>
            </a:r>
            <a:r>
              <a:rPr lang="ko-KR" altLang="ko-KR" b="1" i="0" dirty="0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 of </a:t>
            </a:r>
            <a:r>
              <a:rPr lang="ko-KR" altLang="ko-KR" b="1" i="0" dirty="0" err="1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the</a:t>
            </a:r>
            <a:r>
              <a:rPr lang="ko-KR" altLang="ko-KR" b="1" i="0" dirty="0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 </a:t>
            </a:r>
            <a:r>
              <a:rPr lang="ko-KR" altLang="ko-KR" b="1" i="0" dirty="0" err="1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volta</a:t>
            </a:r>
            <a:r>
              <a:rPr lang="ko-KR" altLang="ko-KR" b="1" i="0" dirty="0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 </a:t>
            </a:r>
            <a:r>
              <a:rPr lang="ko-KR" altLang="ko-KR" b="1" i="0" dirty="0" err="1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in</a:t>
            </a:r>
            <a:r>
              <a:rPr lang="ko-KR" altLang="ko-KR" b="1" i="0" dirty="0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 </a:t>
            </a:r>
            <a:r>
              <a:rPr lang="ko-KR" altLang="ko-KR" b="1" i="0" dirty="0" err="1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Shakespeare’s</a:t>
            </a:r>
            <a:r>
              <a:rPr lang="ko-KR" altLang="ko-KR" b="1" i="0" dirty="0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 </a:t>
            </a:r>
            <a:r>
              <a:rPr lang="ko-KR" altLang="ko-KR" b="1" i="0" dirty="0" err="1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sonnets</a:t>
            </a:r>
            <a:r>
              <a:rPr lang="en-US" altLang="ko-KR" b="1" i="0" dirty="0">
                <a:solidFill>
                  <a:srgbClr val="2A2A2A"/>
                </a:solidFill>
                <a:effectLst/>
                <a:latin typeface="Merriweather" panose="020F0502020204030204" pitchFamily="2" charset="0"/>
              </a:rPr>
              <a:t> 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83BBA-F746-5350-0114-B6A3A02A062F}"/>
              </a:ext>
            </a:extLst>
          </p:cNvPr>
          <p:cNvSpPr txBox="1"/>
          <p:nvPr/>
        </p:nvSpPr>
        <p:spPr>
          <a:xfrm>
            <a:off x="7070921" y="1248364"/>
            <a:ext cx="147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Haram Lee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3EF91BF-07BC-9580-4868-A5D6E758D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89" y="1754552"/>
            <a:ext cx="5848651" cy="4635738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A6AAA38-18D2-49E0-055C-0895236E1DDD}"/>
              </a:ext>
            </a:extLst>
          </p:cNvPr>
          <p:cNvSpPr/>
          <p:nvPr/>
        </p:nvSpPr>
        <p:spPr>
          <a:xfrm>
            <a:off x="3259668" y="2667000"/>
            <a:ext cx="1548850" cy="296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D8DAA34-E0C7-4A0B-143B-F5FCBC401308}"/>
              </a:ext>
            </a:extLst>
          </p:cNvPr>
          <p:cNvSpPr/>
          <p:nvPr/>
        </p:nvSpPr>
        <p:spPr>
          <a:xfrm>
            <a:off x="3598334" y="3865362"/>
            <a:ext cx="1240366" cy="296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B2F791-C25D-001C-D0A3-FC00D94F06DC}"/>
              </a:ext>
            </a:extLst>
          </p:cNvPr>
          <p:cNvSpPr txBox="1"/>
          <p:nvPr/>
        </p:nvSpPr>
        <p:spPr>
          <a:xfrm>
            <a:off x="4071605" y="6507801"/>
            <a:ext cx="670983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500" u="sng" dirty="0">
                <a:solidFill>
                  <a:srgbClr val="006FB7"/>
                </a:solidFill>
                <a:latin typeface="Source Sans Pro" panose="020F0502020204030204" pitchFamily="34" charset="0"/>
              </a:rPr>
              <a:t>https://zenodo.org/records/14965925</a:t>
            </a:r>
            <a:endParaRPr lang="ko-KR" altLang="en-US" sz="15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B90D30-01A1-C7B9-6CF2-C7DBC1F95B16}"/>
              </a:ext>
            </a:extLst>
          </p:cNvPr>
          <p:cNvSpPr txBox="1"/>
          <p:nvPr/>
        </p:nvSpPr>
        <p:spPr>
          <a:xfrm>
            <a:off x="6597388" y="2813199"/>
            <a:ext cx="559461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/>
              <a:t>Sentiment_m</a:t>
            </a:r>
            <a:r>
              <a:rPr lang="en-US" altLang="ko-KR" sz="1500" dirty="0"/>
              <a:t> </a:t>
            </a:r>
          </a:p>
          <a:p>
            <a:r>
              <a:rPr lang="en-US" altLang="ko-KR" sz="1500" dirty="0"/>
              <a:t>	: line-level sentiment score Human-labeled data</a:t>
            </a:r>
          </a:p>
          <a:p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/>
              <a:t>Sentiment_v</a:t>
            </a:r>
            <a:r>
              <a:rPr lang="en-US" altLang="ko-KR" sz="1500" dirty="0"/>
              <a:t> 	</a:t>
            </a:r>
          </a:p>
          <a:p>
            <a:r>
              <a:rPr lang="en-US" altLang="ko-KR" sz="1500" dirty="0"/>
              <a:t>	: Line-level sentiment score generated by VADER</a:t>
            </a:r>
          </a:p>
          <a:p>
            <a:r>
              <a:rPr lang="en-US" altLang="ko-KR" sz="1500" dirty="0"/>
              <a:t>		(lexicon-based model)</a:t>
            </a:r>
          </a:p>
          <a:p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500" dirty="0" err="1"/>
              <a:t>Sentiment_r</a:t>
            </a:r>
            <a:r>
              <a:rPr lang="en-US" altLang="ko-KR" sz="1500" dirty="0"/>
              <a:t> </a:t>
            </a:r>
          </a:p>
          <a:p>
            <a:r>
              <a:rPr lang="en-US" altLang="ko-KR" sz="1500" dirty="0"/>
              <a:t>	: Line-level sentiment scores generated by </a:t>
            </a:r>
            <a:r>
              <a:rPr lang="en-US" altLang="ko-KR" sz="1500" dirty="0" err="1"/>
              <a:t>RoBERTa</a:t>
            </a:r>
            <a:r>
              <a:rPr lang="en-US" altLang="ko-KR" sz="1500" dirty="0"/>
              <a:t> </a:t>
            </a:r>
          </a:p>
          <a:p>
            <a:r>
              <a:rPr lang="en-US" altLang="ko-KR" sz="1500" dirty="0"/>
              <a:t>		(deep learning model)</a:t>
            </a:r>
          </a:p>
        </p:txBody>
      </p:sp>
      <p:pic>
        <p:nvPicPr>
          <p:cNvPr id="30" name="그래픽 29" descr="배지 체크 표시1 윤곽선">
            <a:extLst>
              <a:ext uri="{FF2B5EF4-FFF2-40B4-BE49-F238E27FC236}">
                <a16:creationId xmlns:a16="http://schemas.microsoft.com/office/drawing/2014/main" id="{219E5741-A19A-2620-CEF3-9AA2CBFFE6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62265" y="2853265"/>
            <a:ext cx="516467" cy="51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98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411480"/>
            <a:ext cx="65614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/>
              <a:t>Sonnet Generation with Sentiment Data</a:t>
            </a:r>
            <a:endParaRPr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8AFD203E-5DC1-10C5-7044-3A18023A3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E0F41BF-4ABB-446A-4399-61015514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/>
              <a:t>&lt; #&gt;</a:t>
            </a:r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8DEE-4CC7-C49A-B33C-A22C131A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586001-6F5A-D172-B2E0-6C0ED407F80D}"/>
              </a:ext>
            </a:extLst>
          </p:cNvPr>
          <p:cNvSpPr txBox="1"/>
          <p:nvPr/>
        </p:nvSpPr>
        <p:spPr>
          <a:xfrm>
            <a:off x="274320" y="411480"/>
            <a:ext cx="656141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/>
              <a:t>Sonnet Generation with Sentiment Data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B6B0D-7511-2F0D-7756-C8D09A3F8A7D}"/>
              </a:ext>
            </a:extLst>
          </p:cNvPr>
          <p:cNvSpPr/>
          <p:nvPr/>
        </p:nvSpPr>
        <p:spPr>
          <a:xfrm>
            <a:off x="457200" y="1097280"/>
            <a:ext cx="5303520" cy="320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1B552-AE23-1E1A-4239-DABBB0901293}"/>
              </a:ext>
            </a:extLst>
          </p:cNvPr>
          <p:cNvSpPr/>
          <p:nvPr/>
        </p:nvSpPr>
        <p:spPr>
          <a:xfrm>
            <a:off x="6035040" y="1097280"/>
            <a:ext cx="5303520" cy="3200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E36E0785-1184-BCCE-0787-BB109D213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4A78DBF-B0D9-42E4-7E9C-99442AAE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/>
              <a:t>&lt; #&gt;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483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588669"/>
            <a:ext cx="7635103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altLang="ko-KR" dirty="0"/>
              <a:t>Extending Poetry Generation to Korean Poems</a:t>
            </a:r>
          </a:p>
          <a:p>
            <a:pPr>
              <a:defRPr sz="2600" b="1"/>
            </a:pPr>
            <a:endParaRPr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97E71DC5-F47E-84A4-18FE-FECF03D64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5B7B337-5E03-BEBB-231C-4FAE7FCFB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/>
              <a:t>&lt; #&gt;</a:t>
            </a:r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411480"/>
            <a:ext cx="471808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lang="en-US" dirty="0" err="1"/>
              <a:t>Kim_Sowol</a:t>
            </a:r>
            <a:r>
              <a:rPr lang="en-US" dirty="0"/>
              <a:t> Poem generation</a:t>
            </a:r>
            <a:endParaRPr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9F200F77-5AA8-5B0E-A35E-6E19A90E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1A58A57-FEBB-9922-343B-76FBE143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/>
              <a:t>&lt; #&gt;</a:t>
            </a:r>
            <a:endParaRPr lang="ko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927"/>
            <a:ext cx="12191695" cy="6858000"/>
          </a:xfrm>
          <a:prstGeom prst="rect">
            <a:avLst/>
          </a:prstGeom>
          <a:solidFill>
            <a:srgbClr val="7A0019"/>
          </a:solidFill>
          <a:ln>
            <a:solidFill>
              <a:srgbClr val="7A0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324402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lang="en-US" dirty="0"/>
              <a:t>Q&amp;A</a:t>
            </a:r>
            <a:endParaRPr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1C1352-0290-F4C3-A7EB-F5366F49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219200" y="6507802"/>
            <a:ext cx="4114800" cy="365125"/>
          </a:xfrm>
        </p:spPr>
        <p:txBody>
          <a:bodyPr/>
          <a:lstStyle/>
          <a:p>
            <a:r>
              <a:rPr lang="en-US" altLang="ko-KR"/>
              <a:t>SOGANG UNIVERSITY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16A7FD-5AEF-74A2-7BDD-3B6253BBA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492874"/>
            <a:ext cx="2743200" cy="365125"/>
          </a:xfrm>
        </p:spPr>
        <p:txBody>
          <a:bodyPr/>
          <a:lstStyle/>
          <a:p>
            <a:r>
              <a:rPr lang="en-US" altLang="ko-KR"/>
              <a:t>&lt; #&gt;</a:t>
            </a:r>
            <a:endParaRPr lang="ko-KR" altLang="en-US" dirty="0"/>
          </a:p>
        </p:txBody>
      </p:sp>
      <p:pic>
        <p:nvPicPr>
          <p:cNvPr id="8" name="그림 7" descr="GitHub의 힘을 열어보세요: 개발자와 팀을 위한 종합 가이드">
            <a:extLst>
              <a:ext uri="{FF2B5EF4-FFF2-40B4-BE49-F238E27FC236}">
                <a16:creationId xmlns:a16="http://schemas.microsoft.com/office/drawing/2014/main" id="{1CAAADA2-CBDB-A7BA-76F4-C0D633CB1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14400" y="4718783"/>
            <a:ext cx="1320800" cy="4867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1C5B29-92DE-C588-6585-DAFAD6C85835}"/>
              </a:ext>
            </a:extLst>
          </p:cNvPr>
          <p:cNvSpPr txBox="1"/>
          <p:nvPr/>
        </p:nvSpPr>
        <p:spPr>
          <a:xfrm>
            <a:off x="959213" y="5108823"/>
            <a:ext cx="54525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/>
              <a:t>https://github.com/bio-1220/NLP_gpt2_project.git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659</Words>
  <Application>Microsoft Office PowerPoint</Application>
  <PresentationFormat>와이드스크린</PresentationFormat>
  <Paragraphs>163</Paragraphs>
  <Slides>21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맑은 고딕</vt:lpstr>
      <vt:lpstr>Arial</vt:lpstr>
      <vt:lpstr>Cambria Math</vt:lpstr>
      <vt:lpstr>Merriweather</vt:lpstr>
      <vt:lpstr>Source Sans Pro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조형원</dc:creator>
  <cp:keywords/>
  <dc:description>generated using python-pptx</dc:description>
  <cp:lastModifiedBy>조형원</cp:lastModifiedBy>
  <cp:revision>9</cp:revision>
  <dcterms:created xsi:type="dcterms:W3CDTF">2013-01-27T09:14:16Z</dcterms:created>
  <dcterms:modified xsi:type="dcterms:W3CDTF">2026-06-07T01:03:26Z</dcterms:modified>
  <cp:category/>
</cp:coreProperties>
</file>